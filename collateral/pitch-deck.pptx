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EA5E9"/>
                </a:solidFill>
                <a:latin typeface="Calibri"/>
              </a:defRPr>
            </a:pPr>
            <a:r>
              <a:t>MALKHANA VAULT</a:t>
            </a:r>
          </a:p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Digital Chain of Custody for Indian Law Enforcement</a:t>
            </a:r>
          </a:p>
          <a:p>
            <a:pPr algn="l">
              <a:spcBef>
                <a:spcPts val="3600"/>
              </a:spcBef>
              <a:defRPr sz="1300">
                <a:solidFill>
                  <a:srgbClr val="64748B"/>
                </a:solidFill>
                <a:latin typeface="Courier New"/>
              </a:defRPr>
            </a:pPr>
            <a:r>
              <a:t>BSA 2023 §63 &amp; BNSS 2023 §153 Compliant | Offline-First Forensic-Grade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PROBLEM: MANUAL MALKHANA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Physical property rooms ('Malkhanas') suffer from critical gaps that lead to evidence rejection in court: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b="1" sz="1600">
                <a:solidFill>
                  <a:srgbClr val="DC2626"/>
                </a:solidFill>
                <a:latin typeface="Calibri"/>
              </a:rPr>
              <a:t>• No Crime Scene Hash (H1 Gap): </a:t>
            </a:r>
            <a:r>
              <a:rPr sz="1600">
                <a:solidFill>
                  <a:srgbClr val="0F172A"/>
                </a:solidFill>
                <a:latin typeface="Calibri"/>
              </a:rPr>
              <a:t>Devices are seized without immediate hash values, allowing defense attorneys to challenge baseline integrity.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b="1" sz="1600">
                <a:solidFill>
                  <a:srgbClr val="DC2626"/>
                </a:solidFill>
                <a:latin typeface="Calibri"/>
              </a:rPr>
              <a:t>• Physical Chain Alterations: </a:t>
            </a:r>
            <a:r>
              <a:rPr sz="1600">
                <a:solidFill>
                  <a:srgbClr val="0F172A"/>
                </a:solidFill>
                <a:latin typeface="Calibri"/>
              </a:rPr>
              <a:t>Manual registers are vulnerable to backdating, missing entries, and paper logs can be tampered with or damaged.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b="1" sz="1600">
                <a:solidFill>
                  <a:srgbClr val="DC2626"/>
                </a:solidFill>
                <a:latin typeface="Calibri"/>
              </a:rPr>
              <a:t>• No Write-Blocker Enforcement: </a:t>
            </a:r>
            <a:r>
              <a:rPr sz="1600">
                <a:solidFill>
                  <a:srgbClr val="0F172A"/>
                </a:solidFill>
                <a:latin typeface="Calibri"/>
              </a:rPr>
              <a:t>Evidence is often plugged directly into station computers without write-blockers, modifying file timestamps and metadata.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b="1" sz="1600">
                <a:solidFill>
                  <a:srgbClr val="DC2626"/>
                </a:solidFill>
                <a:latin typeface="Calibri"/>
              </a:rPr>
              <a:t>• Inadmissible Certifications: </a:t>
            </a:r>
            <a:r>
              <a:rPr sz="1600">
                <a:solidFill>
                  <a:srgbClr val="0F172A"/>
                </a:solidFill>
                <a:latin typeface="Calibri"/>
              </a:rPr>
              <a:t>Section 65B (IEA) or Section 63 (BSA) certificates are drafted manually, leading to technical errors and court rejection.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SOLUTION: MALKHANA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EA5E9"/>
                </a:solidFill>
                <a:latin typeface="Calibri"/>
              </a:defRPr>
            </a:pPr>
            <a:r>
              <a:t>Forensic-Grade Air-Gapped Trust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✔  100% Offline-First execution, eliminating cloud hacks.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✔  SQLCipher database with AES-256 key encryption.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✔  Append-only database architecture—no DELETE queries compile.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✔  Secure auth portal records session as Step 0 custody.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0EA5E9"/>
                </a:solidFill>
                <a:latin typeface="Courier New"/>
              </a:defRPr>
            </a:pPr>
            <a:r>
              <a:t>$ chmod +x MalkhanaVault.AppImage</a:t>
            </a:r>
          </a:p>
          <a:p>
            <a:pPr>
              <a:spcBef>
                <a:spcPts val="600"/>
              </a:spcBef>
              <a:defRPr sz="1100" b="1">
                <a:solidFill>
                  <a:srgbClr val="0EA5E9"/>
                </a:solidFill>
                <a:latin typeface="Courier New"/>
              </a:defRPr>
            </a:pPr>
            <a:r>
              <a:t>$ ./MalkhanaVault.AppImage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Courier New"/>
              </a:defRPr>
            </a:pPr>
            <a:r>
              <a:t>[*] Initializing SQLCipher database...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Courier New"/>
              </a:defRPr>
            </a:pPr>
            <a:r>
              <a:t>[*] Verifying Merkle audit chain...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  <a:latin typeface="Courier New"/>
              </a:defRPr>
            </a:pPr>
            <a:r>
              <a:t>✔ Vault unlocked. Chain-of-custody active.</a:t>
            </a:r>
          </a:p>
          <a:p>
            <a:pPr>
              <a:spcBef>
                <a:spcPts val="600"/>
              </a:spcBef>
              <a:defRPr sz="1100" b="1">
                <a:solidFill>
                  <a:srgbClr val="0EA5E9"/>
                </a:solidFill>
                <a:latin typeface="Courier New"/>
              </a:defRPr>
            </a:pPr>
            <a:r>
              <a:t>$ malkhana --verify-chain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  <a:latin typeface="Courier New"/>
              </a:defRPr>
            </a:pPr>
            <a:r>
              <a:t>✔ Merkle root verified. 0 tamper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150-DRAWER SECURE VAULT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EA5E9"/>
                </a:solidFill>
                <a:latin typeface="Calibri"/>
              </a:defRPr>
            </a:pPr>
            <a:r>
              <a:t>Physical Storage Matrix Alignment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• Coordinate Mapping: Bridges physical evidence drawers to database slots (e.g. Row 5, Column 8).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• Dual Verification: Enforces H2 Receipt Hash matches crime scene H1 before drawer is digitally sealed.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• Malkhana Gap Alert: Automatic system warning if H1 does not match H2 on receipt, preventing legal fallout.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62472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38544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14616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90688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66760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42832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18904" y="1645920"/>
            <a:ext cx="502920" cy="50292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94976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71048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62472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38544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14616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0688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42832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18904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94976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71048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62472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38544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14616" y="2798064"/>
            <a:ext cx="502920" cy="50292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6760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42832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94976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71048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0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62472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38544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14616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90688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66760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42832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18904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94976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71048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0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62472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38544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14616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90688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66760" y="3950208"/>
            <a:ext cx="502920" cy="5029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42832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18904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94976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671048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62472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38544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14616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90688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66760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42832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18904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94976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671048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0" y="5303520"/>
            <a:ext cx="5760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Courier New"/>
              </a:defRPr>
            </a:pPr>
            <a:r>
              <a:t>Matrix Legends:  [ ] Empty Slot      [■] Occupied/Sealed      [■] Integrity Alert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BSA 2023 &amp; BNSS 2023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754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defRPr sz="1000" b="1">
                <a:solidFill>
                  <a:srgbClr val="0EA5E9"/>
                </a:solidFill>
                <a:latin typeface="Courier New"/>
              </a:defRPr>
            </a:pPr>
            <a:r>
              <a:t>BSA 2023 — §63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Section 63 Certificate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Auto-generated certificate attesting device health, automated storage, integrity, and chain of custody. Replaces legacy IEA §65B.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4754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defRPr sz="1000" b="1">
                <a:solidFill>
                  <a:srgbClr val="0EA5E9"/>
                </a:solidFill>
                <a:latin typeface="Courier New"/>
              </a:defRPr>
            </a:pPr>
            <a:r>
              <a:t>BSA 2023 — §63(2)(c)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Downtime Logging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System interruptions are auto-flagged in system_health_log. Certificate generation checks and discloses any downtime events.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4754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defRPr sz="1000" b="1">
                <a:solidFill>
                  <a:srgbClr val="0EA5E9"/>
                </a:solidFill>
                <a:latin typeface="Courier New"/>
              </a:defRPr>
            </a:pPr>
            <a:r>
              <a:t>BNSS 2023 — §153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Form CC-1 Integration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Mandatory chain-of-custody form auto-populated at seizure. Enforces Panch witness names and Imaging Specialist signatures.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840480"/>
            <a:ext cx="4754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defRPr sz="1000" b="1">
                <a:solidFill>
                  <a:srgbClr val="0EA5E9"/>
                </a:solidFill>
                <a:latin typeface="Courier New"/>
              </a:defRPr>
            </a:pPr>
            <a:r>
              <a:t>CERT-In / IT Act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180-Day Logs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Tamper-proof Merkle-chained audit logs preserved for a minimum of 180 days. Any stealth edit breaks the Merkle root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MALKHANA VAULT: SECURE &amp; DEPLOYABLE</a:t>
            </a:r>
          </a:p>
          <a:p>
            <a:pPr>
              <a:spcBef>
                <a:spcPts val="800"/>
              </a:spcBef>
              <a:defRPr sz="1800">
                <a:solidFill>
                  <a:srgbClr val="0EA5E9"/>
                </a:solidFill>
                <a:latin typeface="Calibri"/>
              </a:defRPr>
            </a:pPr>
            <a:r>
              <a:t>Standardized packages designed for grassroots police deployment and air-gapped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A5E9"/>
                </a:solidFill>
                <a:latin typeface="Calibri"/>
              </a:rPr>
              <a:t>■  AppImage (Tauri Portable): </a:t>
            </a:r>
            <a:r>
              <a:rPr sz="1500">
                <a:solidFill>
                  <a:srgbClr val="FFFFFF"/>
                </a:solidFill>
                <a:latin typeface="Calibri"/>
              </a:rPr>
              <a:t>Runs instantly on Linux workstations without installation or administrator privileges.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A5E9"/>
                </a:solidFill>
                <a:latin typeface="Calibri"/>
              </a:rPr>
              <a:t>■  Debian / RPM Installers: </a:t>
            </a:r>
            <a:r>
              <a:rPr sz="1500">
                <a:solidFill>
                  <a:srgbClr val="FFFFFF"/>
                </a:solidFill>
                <a:latin typeface="Calibri"/>
              </a:rPr>
              <a:t>Native packages for official state Linux distributions (Ubuntu, BOSS Linux).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A5E9"/>
                </a:solidFill>
                <a:latin typeface="Calibri"/>
              </a:rPr>
              <a:t>■  Windows MSIs (NSIS): </a:t>
            </a:r>
            <a:r>
              <a:rPr sz="1500">
                <a:solidFill>
                  <a:srgbClr val="FFFFFF"/>
                </a:solidFill>
                <a:latin typeface="Calibri"/>
              </a:rPr>
              <a:t>Standard installers with automatic dependency resolution for Windows terminals.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A5E9"/>
                </a:solidFill>
                <a:latin typeface="Calibri"/>
              </a:rPr>
              <a:t>■  100% Offline Integrity: </a:t>
            </a:r>
            <a:r>
              <a:rPr sz="1500">
                <a:solidFill>
                  <a:srgbClr val="FFFFFF"/>
                </a:solidFill>
                <a:latin typeface="Calibri"/>
              </a:rPr>
              <a:t>Statically compiled SQLite/SQLCipher database. Zero external web calls or data leaks.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